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990000"/>
                </a:solidFill>
                <a:latin typeface="Arial"/>
              </a:rPr>
              <a:t>Optimal Market Making for Cryptocurrency Options</a:t>
            </a:r>
          </a:p>
          <a:p>
            <a:r>
              <a:rPr sz="2000" b="0" i="1">
                <a:solidFill>
                  <a:srgbClr val="6D6D6D"/>
                </a:solidFill>
                <a:latin typeface="Arial"/>
              </a:rPr>
              <a:t>The Avellaneda–Stoikov Framework and its Extension to Options — A 10-Week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1A"/>
                </a:solidFill>
                <a:latin typeface="Arial"/>
              </a:rPr>
              <a:t>North Carolina State University — Department of Mathematics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Industry Mentor: Dendi Suhubdy (Bitwyre, San Francisco)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Guest Practitioner: Fenni Kang (Chief Strategy Officer, Coincall)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0060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Course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Re-centered on the Avellaneda–Stoikov framework for options market making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Week 1 was the introduction (delivered last week); Weeks 2–10 are technical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Extend single-asset Avellaneda–Stoikov to multi-Greek options inventory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Live and historical Coincall data throughout; research-grade final report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Advanced week covers Avellaneda–Stoikov extensions (no GLFT)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Implementation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Problem sets in Python, using PyTorch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Differentiation is implicit via autograd — no hand-rolled AD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Greeks, surface calibration, and intensity fits all via .backward()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Fast-computation methods in C++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Latency-critical pricers, implied-vol, and surface revaluation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Exposed to Python through a pybind11 binding (taught in Week 7)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Industry pattern: Python for research, C++ for the hot path, pybind11 between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Ten-Week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1 — Introduction (delivered)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2 — Market Microstructure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3 — The Avellaneda–Stoikov Model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4 — Stochastic Optimal Control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Wk 5 — Avellaneda–Stoikov Engine  ·  Milestone 1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6 — Volatility Surface &amp; Calibration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Wk 7 — Fast Computation: prices, Greeks, implied vol, surfaces  ·  Milestone 2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8 — Options MM Theory &amp; Dynamic Hedging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Wk 9 — Backtesting, Risk &amp; Taker Strategies  ·  Milestone 3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10 — Advanced Avellaneda–Stoikov, Structured Products &amp; Finals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Milestone 1 (Wk 5) — Linear-asset Avellaneda–Stoikov engine (Python/PyTorch)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Calibrated, backtested on one month of Coincall BTC-PERP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Milestone 2 (Wk 7) — Fast pricing &amp; Greeks library (C++ via pybind11)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Full BTC surface revalued &lt; 5 ms; Greeks validated vs. PyTorch autograd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Milestone 3 (Wk 9) — Full options market-making backtest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Three months BTC &amp; ETH; P&amp;L attribution, risk metrics, Greek exposures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Guest Practitioner — Fenni Kang (Coincall)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Week 9 — Taker Strategies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When/why takers cross the spread; signals behind aggressive flow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What taker behaviour implies for order-flow toxicity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Week 10 — Corporate Usage of Options &amp; Structured Products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Collars to fix a price band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Accumulators / decumulators for staged accumulation or liquidation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Coupon / yield-enhancement products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How structured-product flow lands on the market-maker's 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Weekly problem sets — 30%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Three milestone deliverables (Wk 5, 7, 9) — 30%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Final report and presentation — 30%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Participation in lecture, recitation, code review —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