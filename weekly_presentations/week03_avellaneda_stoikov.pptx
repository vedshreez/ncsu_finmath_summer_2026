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990000"/>
                </a:solidFill>
                <a:latin typeface="Arial"/>
              </a:rPr>
              <a:t>Week 3 — The Avellaneda-Stoikov Model</a:t>
            </a:r>
          </a:p>
          <a:p>
            <a:r>
              <a:rPr sz="1900" b="0" i="1">
                <a:solidFill>
                  <a:srgbClr val="6D6D6D"/>
                </a:solidFill>
                <a:latin typeface="Arial"/>
              </a:rPr>
              <a:t>A worked example of optimal market making via stochastic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Optimal Market Making for Cryptocurrency Options  ·  NC State University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394960"/>
            <a:ext cx="3657600" cy="381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Set up the Avellaneda-Stoikov control problem with CARA utility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Understand the HJB equation and its reduction via the ansatz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Interpret the reservation price and optimal half-spread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Lecture 1: Setup and Dynamics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Mid-price as arithmetic Brownian motion (chosen for tractability)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Poisson order flow with intensity lambda(d) = A exp(-kappa d)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Wealth and inventory dynamics under continuous quoting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Exponential (CARA) utility decouples value from wealth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Lecture 2: HJB and Closed-Form Quotes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Dynamic programming principle -&gt; HJB equation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Separation ansatz V = -exp(-gamma(x+qS)) theta(t,q)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Reservation price r = S - q gamma sigma^2 (T-t)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Half-spread = (1/gamma) ln(1+gamma/kappa) + (gamma sigma^2 / 2)(T-t)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Recitation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Implement the closed-form quotes in PyTorch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Visualize reservation price and spread vs. inventory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Run a risk-aversion (gamma) sensitivity sweep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Reading &amp; Problem Set 3 (Python/PyTorch)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Avellaneda-Stoikov (2008); Cartea-Jaikumar-Penalva Ch. 10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PS3: ODE solver, closed-form quotes, simulation, gamma sweep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