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990000"/>
                </a:solidFill>
                <a:latin typeface="Arial"/>
              </a:rPr>
              <a:t>Problem Sets</a:t>
            </a:r>
          </a:p>
          <a:p>
            <a:r>
              <a:rPr sz="2000" b="0" i="1">
                <a:solidFill>
                  <a:srgbClr val="6D6D6D"/>
                </a:solidFill>
                <a:latin typeface="Arial"/>
              </a:rPr>
              <a:t>Optimal Market Making for Cryptocurrency Options — Weeks 2–10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A1A1A"/>
                </a:solidFill>
                <a:latin typeface="Arial"/>
              </a:rPr>
              <a:t>North Carolina State University — Department of Mathematics</a:t>
            </a:r>
          </a:p>
          <a:p>
            <a:r>
              <a:rPr sz="1500" b="0" i="0">
                <a:solidFill>
                  <a:srgbClr val="1A1A1A"/>
                </a:solidFill>
                <a:latin typeface="Arial"/>
              </a:rPr>
              <a:t>Industry Mentor: Dendi Suhubdy (Bitwyre, San Francisco)</a:t>
            </a:r>
          </a:p>
          <a:p>
            <a:r>
              <a:rPr sz="1500" b="0" i="0">
                <a:solidFill>
                  <a:srgbClr val="1A1A1A"/>
                </a:solidFill>
                <a:latin typeface="Arial"/>
              </a:rPr>
              <a:t>Guest Practitioner: Fenni Kang (Chief Strategy Officer, Coincall)</a:t>
            </a:r>
          </a:p>
          <a:p>
            <a:r>
              <a:rPr sz="1500" b="0" i="0">
                <a:solidFill>
                  <a:srgbClr val="1A1A1A"/>
                </a:solidFill>
                <a:latin typeface="Arial"/>
              </a:rPr>
              <a:t>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0060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How the Problem Sets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Python with PyTorch — autograd handles all derivatives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Week 7 is C++, called from Python via pybind11 (scaffold provided)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Each set ships with a starter repo, data loaders, and pytest harness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Emit results as CSV and figures as PNG; set seeds for reproducibility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Worked solutions distributed separately after each deadline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Weeks 2–5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PS2 Microstructure — order book, Roll, Glosten–Milgrom, toxicity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PS3 Avellaneda–Stoikov — ODE solver, closed-form quotes, γ sweep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PS4 Control — Merton CRRA/CARA, Almgren–Chriss, HJB residual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PS5 Engine (Milestone 1) — calibration, one-month backtest,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2103120" cy="3310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Weeks 6–10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27632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PS6 Vol surface — BS Greeks via autograd, SVI/SABR calibration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PS7 Fast computation (Milestone 2) — C++ COS/implied-vol via pybind11</a:t>
            </a:r>
          </a:p>
          <a:p>
            <a:pPr lvl="1"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–  Greeks validated against PyTorch autograd; surface &lt; 5 ms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PS8 Options MM — multi-Greek inventory, hedging integration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C0000"/>
                </a:solidFill>
                <a:latin typeface="Arial"/>
              </a:rPr>
              <a:t>•  PS9 Backtesting (Milestone 3) — attribution, drawdown + taker analysis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PS10 Advanced extension + final report &amp;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