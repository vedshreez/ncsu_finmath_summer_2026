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11480"/>
            <a:ext cx="2743200" cy="431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651760"/>
            <a:ext cx="11064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990000"/>
                </a:solidFill>
                <a:latin typeface="Arial"/>
              </a:rPr>
              <a:t>Tutor Handbook</a:t>
            </a:r>
          </a:p>
          <a:p>
            <a:r>
              <a:rPr sz="2000" b="0" i="1">
                <a:solidFill>
                  <a:srgbClr val="6D6D6D"/>
                </a:solidFill>
                <a:latin typeface="Arial"/>
              </a:rPr>
              <a:t>Optimal Market Making for Cryptocurrency Options — Avellaneda–Stoikov for Options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937760"/>
            <a:ext cx="11064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1A1A1A"/>
                </a:solidFill>
                <a:latin typeface="Arial"/>
              </a:rPr>
              <a:t>North Carolina State University — Department of Mathematics</a:t>
            </a:r>
          </a:p>
          <a:p>
            <a:r>
              <a:rPr sz="1500" b="0" i="0">
                <a:solidFill>
                  <a:srgbClr val="1A1A1A"/>
                </a:solidFill>
                <a:latin typeface="Arial"/>
              </a:rPr>
              <a:t>Industry Mentor: Dendi Suhubdy (Bitwyre, San Francisco)</a:t>
            </a:r>
          </a:p>
          <a:p>
            <a:r>
              <a:rPr sz="1500" b="0" i="0">
                <a:solidFill>
                  <a:srgbClr val="1A1A1A"/>
                </a:solidFill>
                <a:latin typeface="Arial"/>
              </a:rPr>
              <a:t>Guest Practitioner: Fenni Kang (Chief Strategy Officer, Coincall)</a:t>
            </a:r>
          </a:p>
          <a:p>
            <a:r>
              <a:rPr sz="1500" b="0" i="0">
                <a:solidFill>
                  <a:srgbClr val="1A1A1A"/>
                </a:solidFill>
                <a:latin typeface="Arial"/>
              </a:rPr>
              <a:t>Summer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800600"/>
            <a:ext cx="3657600" cy="381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56032"/>
            <a:ext cx="2103120" cy="33104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86868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990000"/>
                </a:solidFill>
                <a:latin typeface="Arial"/>
              </a:rPr>
              <a:t>Your Role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27632"/>
            <a:ext cx="11247120" cy="3175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•  Lead the weekly 90-minute recitation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•  Hold three office hours per week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•  Grade problem sets within seven days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•  First-pass milestone evaluation (mentor gives the final grade)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•  Flag at-risk students to the mentor within 24 hours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•  Two lectures are guest sessions (Fenni Kang, Coincall) — Wk 9 &amp; Wk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56032"/>
            <a:ext cx="2103120" cy="33104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86868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990000"/>
                </a:solidFill>
                <a:latin typeface="Arial"/>
              </a:rPr>
              <a:t>Grading Standards — Two Languages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27632"/>
            <a:ext cx="11247120" cy="3175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 i="0">
                <a:solidFill>
                  <a:srgbClr val="CC0000"/>
                </a:solidFill>
                <a:latin typeface="Arial"/>
              </a:rPr>
              <a:t>•  Code graded on correctness, reproducibility, quality — in that order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•  Problem sets are Python/PyTorch; autograd is the oracle for Greeks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•  Students are NOT asked to hand-derive algorithmic differentiation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CC0000"/>
                </a:solidFill>
                <a:latin typeface="Arial"/>
              </a:rPr>
              <a:t>•  Week 7 also grades the C++/pybind11 boundary</a:t>
            </a:r>
          </a:p>
          <a:p>
            <a:pPr lvl="1"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–  Builds with CMake, imports cleanly, agrees with PyTorch reference Greeks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•  Hand-rolled adjoint AD in C++ is a red flag — steer back to autograd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56032"/>
            <a:ext cx="2103120" cy="33104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86868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990000"/>
                </a:solidFill>
                <a:latin typeface="Arial"/>
              </a:rPr>
              <a:t>Week-by-Week Spine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27632"/>
            <a:ext cx="11247120" cy="3175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•  Wk 2 Microstructure — read an order book; spread decomposition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•  Wk 3 Avellaneda–Stoikov — the full HJB→ansatz→ODE→quote pipeline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•  Wk 4 Control — the abstract template; verification theorem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•  Wk 5 Engine (M1) — closed form becomes calibrated, backtested code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•  Wk 6 Vol surface — SVI/SABR; calibration is half craft, half theory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•  Wk 7 Fast computation (M2) — latency; the pybind11 binder lecture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•  Wk 8 Options MM — vector inventory; gamma–theta–variance identity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•  Wk 9 Backtesting (M3) — engineering discipline; taker flow guest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•  Wk 10 Advanced AV + structured-products guest + finals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56032"/>
            <a:ext cx="2103120" cy="33104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86868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990000"/>
                </a:solidFill>
                <a:latin typeface="Arial"/>
              </a:rPr>
              <a:t>Milestone Rubrics (out of 100)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27632"/>
            <a:ext cx="11247120" cy="3175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•  M1 — correctness 30, calibration 20, reproducibility 15, backtest 15,</a:t>
            </a:r>
          </a:p>
          <a:p>
            <a:pPr lvl="1"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–  vectorization 10, code quality 5, report 5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CC0000"/>
                </a:solidFill>
                <a:latin typeface="Arial"/>
              </a:rPr>
              <a:t>•  M2 — pricing 20, Greeks 15, latency 25 (hard gate, caps at 70),</a:t>
            </a:r>
          </a:p>
          <a:p>
            <a:pPr lvl="1"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–  pybind11 integration 10, implied-vol 10, tests 10, note 10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•  M3 — reproducibility 10, attribution 20, risk 15, Greeks 10,</a:t>
            </a:r>
          </a:p>
          <a:p>
            <a:pPr lvl="1"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–  engine 15, hedging 10, forensic 10, report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56032"/>
            <a:ext cx="2103120" cy="33104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86868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990000"/>
                </a:solidFill>
                <a:latin typeface="Arial"/>
              </a:rPr>
              <a:t>Escalate Immediately (⚑ phone, not Slack)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27632"/>
            <a:ext cx="11247120" cy="3175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•  Suspected academic-integrity violation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•  Student in acute distress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•  Data-security incident (e.g., Coincall data exposed publicly)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•  Hostile interaction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